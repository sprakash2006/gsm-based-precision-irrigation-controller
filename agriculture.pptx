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charset="1" panose="020B0502030000000004"/>
      <p:regular r:id="rId16"/>
    </p:embeddedFont>
    <p:embeddedFont>
      <p:font typeface="Bricolage Grotesque Bold" charset="1" panose="020B0605040402000204"/>
      <p:regular r:id="rId17"/>
    </p:embeddedFont>
    <p:embeddedFont>
      <p:font typeface="Bricolage Grotesque" charset="1" panose="020B060504040200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6509" y="617771"/>
            <a:ext cx="13474983" cy="319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sz="4299">
                <a:solidFill>
                  <a:srgbClr val="252930"/>
                </a:solidFill>
                <a:latin typeface="Inter"/>
                <a:ea typeface="Inter"/>
                <a:cs typeface="Inter"/>
                <a:sym typeface="Inter"/>
              </a:rPr>
              <a:t>Logic Design and Microprocessor</a:t>
            </a:r>
          </a:p>
          <a:p>
            <a:pPr algn="ctr">
              <a:lnSpc>
                <a:spcPts val="6449"/>
              </a:lnSpc>
            </a:pPr>
            <a:r>
              <a:rPr lang="en-US" sz="4299">
                <a:solidFill>
                  <a:srgbClr val="252930"/>
                </a:solidFill>
                <a:latin typeface="Inter"/>
                <a:ea typeface="Inter"/>
                <a:cs typeface="Inter"/>
                <a:sym typeface="Inter"/>
              </a:rPr>
              <a:t>Topic Name: GSM Based Precision Irrigation Controller</a:t>
            </a:r>
          </a:p>
          <a:p>
            <a:pPr algn="ctr">
              <a:lnSpc>
                <a:spcPts val="6449"/>
              </a:lnSpc>
            </a:pPr>
            <a:r>
              <a:rPr lang="en-US" sz="4299">
                <a:solidFill>
                  <a:srgbClr val="252930"/>
                </a:solidFill>
                <a:latin typeface="Inter"/>
                <a:ea typeface="Inter"/>
                <a:cs typeface="Inter"/>
                <a:sym typeface="Inter"/>
              </a:rPr>
              <a:t>Department of Computer Engineering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409555" y="3793022"/>
            <a:ext cx="1468891" cy="2042116"/>
          </a:xfrm>
          <a:custGeom>
            <a:avLst/>
            <a:gdLst/>
            <a:ahLst/>
            <a:cxnLst/>
            <a:rect r="r" b="b" t="t" l="l"/>
            <a:pathLst>
              <a:path h="2042116" w="1468891">
                <a:moveTo>
                  <a:pt x="0" y="0"/>
                </a:moveTo>
                <a:lnTo>
                  <a:pt x="1468890" y="0"/>
                </a:lnTo>
                <a:lnTo>
                  <a:pt x="1468890" y="2042116"/>
                </a:lnTo>
                <a:lnTo>
                  <a:pt x="0" y="2042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2801" y="6497694"/>
            <a:ext cx="15922398" cy="20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</a:pPr>
            <a:r>
              <a:rPr lang="en-US" sz="3736">
                <a:solidFill>
                  <a:srgbClr val="252930"/>
                </a:solidFill>
                <a:latin typeface="Inter"/>
                <a:ea typeface="Inter"/>
                <a:cs typeface="Inter"/>
                <a:sym typeface="Inter"/>
              </a:rPr>
              <a:t>BRACT’S, Vishwakarma Institute of Technology, Pune</a:t>
            </a:r>
          </a:p>
          <a:p>
            <a:pPr algn="ctr">
              <a:lnSpc>
                <a:spcPts val="5604"/>
              </a:lnSpc>
            </a:pPr>
            <a:r>
              <a:rPr lang="en-US" sz="3736">
                <a:solidFill>
                  <a:srgbClr val="252930"/>
                </a:solidFill>
                <a:latin typeface="Inter"/>
                <a:ea typeface="Inter"/>
                <a:cs typeface="Inter"/>
                <a:sym typeface="Inter"/>
              </a:rPr>
              <a:t>(An Autonomous Institute affiliated to Savitribai Phule Pune University)</a:t>
            </a:r>
          </a:p>
          <a:p>
            <a:pPr algn="ctr">
              <a:lnSpc>
                <a:spcPts val="5604"/>
              </a:lnSpc>
            </a:pPr>
            <a:r>
              <a:rPr lang="en-US" sz="3736">
                <a:solidFill>
                  <a:srgbClr val="252930"/>
                </a:solidFill>
                <a:latin typeface="Inter"/>
                <a:ea typeface="Inter"/>
                <a:cs typeface="Inter"/>
                <a:sym typeface="Inter"/>
              </a:rPr>
              <a:t>(NBA and NAAC accredited, ISO 9001:2015 certified)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218" y="129584"/>
            <a:ext cx="1468891" cy="2042116"/>
          </a:xfrm>
          <a:custGeom>
            <a:avLst/>
            <a:gdLst/>
            <a:ahLst/>
            <a:cxnLst/>
            <a:rect r="r" b="b" t="t" l="l"/>
            <a:pathLst>
              <a:path h="2042116" w="1468891">
                <a:moveTo>
                  <a:pt x="0" y="0"/>
                </a:moveTo>
                <a:lnTo>
                  <a:pt x="1468891" y="0"/>
                </a:lnTo>
                <a:lnTo>
                  <a:pt x="1468891" y="2042116"/>
                </a:lnTo>
                <a:lnTo>
                  <a:pt x="0" y="2042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79837"/>
            <a:ext cx="5415934" cy="5739429"/>
          </a:xfrm>
          <a:custGeom>
            <a:avLst/>
            <a:gdLst/>
            <a:ahLst/>
            <a:cxnLst/>
            <a:rect r="r" b="b" t="t" l="l"/>
            <a:pathLst>
              <a:path h="5739429" w="5415934">
                <a:moveTo>
                  <a:pt x="0" y="0"/>
                </a:moveTo>
                <a:lnTo>
                  <a:pt x="5415934" y="0"/>
                </a:lnTo>
                <a:lnTo>
                  <a:pt x="5415934" y="5739428"/>
                </a:lnTo>
                <a:lnTo>
                  <a:pt x="0" y="573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034" y="3512315"/>
            <a:ext cx="8477966" cy="6674471"/>
          </a:xfrm>
          <a:custGeom>
            <a:avLst/>
            <a:gdLst/>
            <a:ahLst/>
            <a:cxnLst/>
            <a:rect r="r" b="b" t="t" l="l"/>
            <a:pathLst>
              <a:path h="6674471" w="8477966">
                <a:moveTo>
                  <a:pt x="0" y="0"/>
                </a:moveTo>
                <a:lnTo>
                  <a:pt x="8477966" y="0"/>
                </a:lnTo>
                <a:lnTo>
                  <a:pt x="8477966" y="6674472"/>
                </a:lnTo>
                <a:lnTo>
                  <a:pt x="0" y="6674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2506" y="8861506"/>
            <a:ext cx="396794" cy="396794"/>
          </a:xfrm>
          <a:custGeom>
            <a:avLst/>
            <a:gdLst/>
            <a:ahLst/>
            <a:cxnLst/>
            <a:rect r="r" b="b" t="t" l="l"/>
            <a:pathLst>
              <a:path h="396794" w="396794">
                <a:moveTo>
                  <a:pt x="0" y="0"/>
                </a:moveTo>
                <a:lnTo>
                  <a:pt x="396794" y="0"/>
                </a:lnTo>
                <a:lnTo>
                  <a:pt x="396794" y="396794"/>
                </a:lnTo>
                <a:lnTo>
                  <a:pt x="0" y="396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822540" y="8123173"/>
            <a:ext cx="285616" cy="73627"/>
            <a:chOff x="0" y="0"/>
            <a:chExt cx="75224" cy="19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224" cy="19391"/>
            </a:xfrm>
            <a:custGeom>
              <a:avLst/>
              <a:gdLst/>
              <a:ahLst/>
              <a:cxnLst/>
              <a:rect r="r" b="b" t="t" l="l"/>
              <a:pathLst>
                <a:path h="19391" w="75224">
                  <a:moveTo>
                    <a:pt x="9696" y="0"/>
                  </a:moveTo>
                  <a:lnTo>
                    <a:pt x="65528" y="0"/>
                  </a:lnTo>
                  <a:cubicBezTo>
                    <a:pt x="68100" y="0"/>
                    <a:pt x="70566" y="1022"/>
                    <a:pt x="72384" y="2840"/>
                  </a:cubicBezTo>
                  <a:cubicBezTo>
                    <a:pt x="74202" y="4658"/>
                    <a:pt x="75224" y="7124"/>
                    <a:pt x="75224" y="9696"/>
                  </a:cubicBezTo>
                  <a:lnTo>
                    <a:pt x="75224" y="9696"/>
                  </a:lnTo>
                  <a:cubicBezTo>
                    <a:pt x="75224" y="12267"/>
                    <a:pt x="74202" y="14733"/>
                    <a:pt x="72384" y="16552"/>
                  </a:cubicBezTo>
                  <a:cubicBezTo>
                    <a:pt x="70566" y="18370"/>
                    <a:pt x="68100" y="19391"/>
                    <a:pt x="65528" y="19391"/>
                  </a:cubicBezTo>
                  <a:lnTo>
                    <a:pt x="9696" y="19391"/>
                  </a:lnTo>
                  <a:cubicBezTo>
                    <a:pt x="7124" y="19391"/>
                    <a:pt x="4658" y="18370"/>
                    <a:pt x="2840" y="16552"/>
                  </a:cubicBezTo>
                  <a:cubicBezTo>
                    <a:pt x="1022" y="14733"/>
                    <a:pt x="0" y="12267"/>
                    <a:pt x="0" y="9696"/>
                  </a:cubicBezTo>
                  <a:lnTo>
                    <a:pt x="0" y="9696"/>
                  </a:lnTo>
                  <a:cubicBezTo>
                    <a:pt x="0" y="7124"/>
                    <a:pt x="1022" y="4658"/>
                    <a:pt x="2840" y="2840"/>
                  </a:cubicBezTo>
                  <a:cubicBezTo>
                    <a:pt x="4658" y="1022"/>
                    <a:pt x="7124" y="0"/>
                    <a:pt x="9696" y="0"/>
                  </a:cubicBezTo>
                  <a:close/>
                </a:path>
              </a:pathLst>
            </a:custGeom>
            <a:solidFill>
              <a:srgbClr val="06849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5224" cy="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3403" y="246056"/>
            <a:ext cx="14561465" cy="3028135"/>
            <a:chOff x="0" y="0"/>
            <a:chExt cx="19415287" cy="403751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23850"/>
              <a:ext cx="19415287" cy="3675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30"/>
                </a:lnSpc>
                <a:spcBef>
                  <a:spcPct val="0"/>
                </a:spcBef>
              </a:pPr>
              <a:r>
                <a:rPr lang="en-US" b="true" sz="16521" spc="-1272">
                  <a:solidFill>
                    <a:srgbClr val="06849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GSM-BASED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62499" y="2930496"/>
              <a:ext cx="14408991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  <a:spcBef>
                  <a:spcPct val="0"/>
                </a:spcBef>
              </a:pPr>
              <a:r>
                <a:rPr lang="en-US" b="true" sz="4999" spc="-224">
                  <a:solidFill>
                    <a:srgbClr val="332A19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PRECISION IRRIGATION CONTROLLER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19231" y="9107528"/>
            <a:ext cx="274570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b="true" sz="4999" spc="-224">
                <a:solidFill>
                  <a:srgbClr val="332A1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18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721643" y="2886075"/>
          <a:ext cx="10844713" cy="6372225"/>
        </p:xfrm>
        <a:graphic>
          <a:graphicData uri="http://schemas.openxmlformats.org/drawingml/2006/table">
            <a:tbl>
              <a:tblPr/>
              <a:tblGrid>
                <a:gridCol w="4695375"/>
                <a:gridCol w="2236373"/>
                <a:gridCol w="3912965"/>
              </a:tblGrid>
              <a:tr h="18110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Roll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Piyush Kanakdande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12411031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Prakash Swami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12410921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Akshita Verma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12415032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Darsh Sonsale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2B485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12415033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067153" y="771891"/>
            <a:ext cx="5437659" cy="927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  <a:spcBef>
                <a:spcPct val="0"/>
              </a:spcBef>
            </a:pPr>
            <a:r>
              <a:rPr lang="en-US" b="true" sz="575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Members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46668" cy="246668"/>
          </a:xfrm>
          <a:custGeom>
            <a:avLst/>
            <a:gdLst/>
            <a:ahLst/>
            <a:cxnLst/>
            <a:rect r="r" b="b" t="t" l="l"/>
            <a:pathLst>
              <a:path h="246668" w="246668">
                <a:moveTo>
                  <a:pt x="0" y="0"/>
                </a:moveTo>
                <a:lnTo>
                  <a:pt x="246668" y="0"/>
                </a:lnTo>
                <a:lnTo>
                  <a:pt x="246668" y="246668"/>
                </a:lnTo>
                <a:lnTo>
                  <a:pt x="0" y="24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5368" y="374169"/>
            <a:ext cx="11015169" cy="188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55"/>
              </a:lnSpc>
              <a:spcBef>
                <a:spcPct val="0"/>
              </a:spcBef>
            </a:pPr>
            <a:r>
              <a:rPr lang="en-US" b="true" sz="10968" spc="-844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INTRODUCTION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837" y="2573860"/>
            <a:ext cx="11340871" cy="7346909"/>
            <a:chOff x="0" y="0"/>
            <a:chExt cx="2986896" cy="19349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6896" cy="1934988"/>
            </a:xfrm>
            <a:custGeom>
              <a:avLst/>
              <a:gdLst/>
              <a:ahLst/>
              <a:cxnLst/>
              <a:rect r="r" b="b" t="t" l="l"/>
              <a:pathLst>
                <a:path h="1934988" w="2986896">
                  <a:moveTo>
                    <a:pt x="17066" y="0"/>
                  </a:moveTo>
                  <a:lnTo>
                    <a:pt x="2969830" y="0"/>
                  </a:lnTo>
                  <a:cubicBezTo>
                    <a:pt x="2974356" y="0"/>
                    <a:pt x="2978697" y="1798"/>
                    <a:pt x="2981897" y="4999"/>
                  </a:cubicBezTo>
                  <a:cubicBezTo>
                    <a:pt x="2985098" y="8199"/>
                    <a:pt x="2986896" y="12540"/>
                    <a:pt x="2986896" y="17066"/>
                  </a:cubicBezTo>
                  <a:lnTo>
                    <a:pt x="2986896" y="1917922"/>
                  </a:lnTo>
                  <a:cubicBezTo>
                    <a:pt x="2986896" y="1927347"/>
                    <a:pt x="2979255" y="1934988"/>
                    <a:pt x="2969830" y="1934988"/>
                  </a:cubicBezTo>
                  <a:lnTo>
                    <a:pt x="17066" y="1934988"/>
                  </a:lnTo>
                  <a:cubicBezTo>
                    <a:pt x="7641" y="1934988"/>
                    <a:pt x="0" y="1927347"/>
                    <a:pt x="0" y="1917922"/>
                  </a:cubicBezTo>
                  <a:lnTo>
                    <a:pt x="0" y="17066"/>
                  </a:lnTo>
                  <a:cubicBezTo>
                    <a:pt x="0" y="7641"/>
                    <a:pt x="7641" y="0"/>
                    <a:pt x="170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86896" cy="1925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862506" y="1028700"/>
            <a:ext cx="396794" cy="396794"/>
          </a:xfrm>
          <a:custGeom>
            <a:avLst/>
            <a:gdLst/>
            <a:ahLst/>
            <a:cxnLst/>
            <a:rect r="r" b="b" t="t" l="l"/>
            <a:pathLst>
              <a:path h="396794" w="396794">
                <a:moveTo>
                  <a:pt x="0" y="0"/>
                </a:moveTo>
                <a:lnTo>
                  <a:pt x="396794" y="0"/>
                </a:lnTo>
                <a:lnTo>
                  <a:pt x="396794" y="396794"/>
                </a:lnTo>
                <a:lnTo>
                  <a:pt x="0" y="396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70" y="4450966"/>
            <a:ext cx="6505631" cy="3430242"/>
          </a:xfrm>
          <a:custGeom>
            <a:avLst/>
            <a:gdLst/>
            <a:ahLst/>
            <a:cxnLst/>
            <a:rect r="r" b="b" t="t" l="l"/>
            <a:pathLst>
              <a:path h="3430242" w="6505631">
                <a:moveTo>
                  <a:pt x="0" y="0"/>
                </a:moveTo>
                <a:lnTo>
                  <a:pt x="6505632" y="0"/>
                </a:lnTo>
                <a:lnTo>
                  <a:pt x="6505632" y="3430242"/>
                </a:lnTo>
                <a:lnTo>
                  <a:pt x="0" y="34302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82952" y="2674149"/>
            <a:ext cx="10650367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many rural areas, farmers manually control irrigation, often leading to water wastage and time loss.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To solve this, we developed a GSM-Based Precision Irrigation Controller.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Farmers can turn the water pump ON/OFF via SMS and call, without visiting the field.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system uses Arduino UNO, SIM800L GSM module, relay, moisture sensor, and a 3.7V lithium battery.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 added soil moisture sensor enables both Manual Mode (pump controlled through SMS/call) and Auto Mode (pump automatically switches ON/OFF based on soil moisture levels).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ensures smarter, efficient, and remote irrigation control with real-time soil monitoring, reducing water wastage and improving crop health.</a:t>
            </a:r>
          </a:p>
          <a:p>
            <a:pPr algn="l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4503" y="8861506"/>
            <a:ext cx="396794" cy="396794"/>
          </a:xfrm>
          <a:custGeom>
            <a:avLst/>
            <a:gdLst/>
            <a:ahLst/>
            <a:cxnLst/>
            <a:rect r="r" b="b" t="t" l="l"/>
            <a:pathLst>
              <a:path h="396794" w="396794">
                <a:moveTo>
                  <a:pt x="0" y="0"/>
                </a:moveTo>
                <a:lnTo>
                  <a:pt x="396794" y="0"/>
                </a:lnTo>
                <a:lnTo>
                  <a:pt x="396794" y="396794"/>
                </a:lnTo>
                <a:lnTo>
                  <a:pt x="0" y="396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65220"/>
            <a:ext cx="17002125" cy="8289297"/>
          </a:xfrm>
          <a:custGeom>
            <a:avLst/>
            <a:gdLst/>
            <a:ahLst/>
            <a:cxnLst/>
            <a:rect r="r" b="b" t="t" l="l"/>
            <a:pathLst>
              <a:path h="8289297" w="17002125">
                <a:moveTo>
                  <a:pt x="0" y="0"/>
                </a:moveTo>
                <a:lnTo>
                  <a:pt x="17002125" y="0"/>
                </a:lnTo>
                <a:lnTo>
                  <a:pt x="17002125" y="8289297"/>
                </a:lnTo>
                <a:lnTo>
                  <a:pt x="0" y="8289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18" r="0" b="-77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2639" y="696966"/>
            <a:ext cx="10104149" cy="100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1"/>
              </a:lnSpc>
            </a:pPr>
            <a:r>
              <a:rPr lang="en-US" b="true" sz="8900" spc="-685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COMPONENTS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92396"/>
            <a:ext cx="16296869" cy="8413654"/>
          </a:xfrm>
          <a:custGeom>
            <a:avLst/>
            <a:gdLst/>
            <a:ahLst/>
            <a:cxnLst/>
            <a:rect r="r" b="b" t="t" l="l"/>
            <a:pathLst>
              <a:path h="8413654" w="16296869">
                <a:moveTo>
                  <a:pt x="0" y="0"/>
                </a:moveTo>
                <a:lnTo>
                  <a:pt x="16296869" y="0"/>
                </a:lnTo>
                <a:lnTo>
                  <a:pt x="16296869" y="8413654"/>
                </a:lnTo>
                <a:lnTo>
                  <a:pt x="0" y="841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037" r="0" b="-809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076504" y="689610"/>
            <a:ext cx="11719833" cy="100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1"/>
              </a:lnSpc>
            </a:pPr>
            <a:r>
              <a:rPr lang="en-US" b="true" sz="8900" spc="-685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WORK 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4993" y="781050"/>
            <a:ext cx="246668" cy="246668"/>
          </a:xfrm>
          <a:custGeom>
            <a:avLst/>
            <a:gdLst/>
            <a:ahLst/>
            <a:cxnLst/>
            <a:rect r="r" b="b" t="t" l="l"/>
            <a:pathLst>
              <a:path h="246668" w="246668">
                <a:moveTo>
                  <a:pt x="0" y="0"/>
                </a:moveTo>
                <a:lnTo>
                  <a:pt x="246668" y="0"/>
                </a:lnTo>
                <a:lnTo>
                  <a:pt x="246668" y="246668"/>
                </a:lnTo>
                <a:lnTo>
                  <a:pt x="0" y="24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40663" y="8851626"/>
            <a:ext cx="406674" cy="406674"/>
          </a:xfrm>
          <a:custGeom>
            <a:avLst/>
            <a:gdLst/>
            <a:ahLst/>
            <a:cxnLst/>
            <a:rect r="r" b="b" t="t" l="l"/>
            <a:pathLst>
              <a:path h="406674" w="406674">
                <a:moveTo>
                  <a:pt x="0" y="0"/>
                </a:moveTo>
                <a:lnTo>
                  <a:pt x="406674" y="0"/>
                </a:lnTo>
                <a:lnTo>
                  <a:pt x="406674" y="406674"/>
                </a:lnTo>
                <a:lnTo>
                  <a:pt x="0" y="406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71032" y="2099344"/>
            <a:ext cx="13936437" cy="8187656"/>
          </a:xfrm>
          <a:custGeom>
            <a:avLst/>
            <a:gdLst/>
            <a:ahLst/>
            <a:cxnLst/>
            <a:rect r="r" b="b" t="t" l="l"/>
            <a:pathLst>
              <a:path h="8187656" w="13936437">
                <a:moveTo>
                  <a:pt x="0" y="0"/>
                </a:moveTo>
                <a:lnTo>
                  <a:pt x="13936436" y="0"/>
                </a:lnTo>
                <a:lnTo>
                  <a:pt x="13936436" y="8187656"/>
                </a:lnTo>
                <a:lnTo>
                  <a:pt x="0" y="8187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2979" y="428625"/>
            <a:ext cx="14615369" cy="123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0"/>
              </a:lnSpc>
            </a:pPr>
            <a:r>
              <a:rPr lang="en-US" b="true" sz="11000" spc="-847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CIRCUIT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46668" cy="246668"/>
          </a:xfrm>
          <a:custGeom>
            <a:avLst/>
            <a:gdLst/>
            <a:ahLst/>
            <a:cxnLst/>
            <a:rect r="r" b="b" t="t" l="l"/>
            <a:pathLst>
              <a:path h="246668" w="246668">
                <a:moveTo>
                  <a:pt x="0" y="0"/>
                </a:moveTo>
                <a:lnTo>
                  <a:pt x="246668" y="0"/>
                </a:lnTo>
                <a:lnTo>
                  <a:pt x="246668" y="246668"/>
                </a:lnTo>
                <a:lnTo>
                  <a:pt x="0" y="24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735751" y="7224164"/>
            <a:ext cx="14349246" cy="3522088"/>
          </a:xfrm>
          <a:custGeom>
            <a:avLst/>
            <a:gdLst/>
            <a:ahLst/>
            <a:cxnLst/>
            <a:rect r="r" b="b" t="t" l="l"/>
            <a:pathLst>
              <a:path h="3522088" w="14349246">
                <a:moveTo>
                  <a:pt x="14349246" y="0"/>
                </a:moveTo>
                <a:lnTo>
                  <a:pt x="0" y="0"/>
                </a:lnTo>
                <a:lnTo>
                  <a:pt x="0" y="3522088"/>
                </a:lnTo>
                <a:lnTo>
                  <a:pt x="14349246" y="3522088"/>
                </a:lnTo>
                <a:lnTo>
                  <a:pt x="1434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7259" y="2416035"/>
            <a:ext cx="16224243" cy="504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729" indent="-348365" lvl="1">
              <a:lnSpc>
                <a:spcPts val="4033"/>
              </a:lnSpc>
              <a:buFont typeface="Arial"/>
              <a:buChar char="•"/>
            </a:pPr>
            <a:r>
              <a:rPr lang="en-US" sz="3227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Develop the system into a commercial, farmer-friendly product with a strong casing, long battery life, and easy setup, so it can be used in real farming conditions.</a:t>
            </a:r>
          </a:p>
          <a:p>
            <a:pPr algn="l" marL="696729" indent="-348365" lvl="1">
              <a:lnSpc>
                <a:spcPts val="4033"/>
              </a:lnSpc>
              <a:buFont typeface="Arial"/>
              <a:buChar char="•"/>
            </a:pPr>
            <a:r>
              <a:rPr lang="en-US" sz="3227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IoT support so farmers can check soil moisture and pump status on a mobile app.</a:t>
            </a:r>
          </a:p>
          <a:p>
            <a:pPr algn="l" marL="696729" indent="-348365" lvl="1">
              <a:lnSpc>
                <a:spcPts val="4033"/>
              </a:lnSpc>
              <a:buFont typeface="Arial"/>
              <a:buChar char="•"/>
            </a:pPr>
            <a:r>
              <a:rPr lang="en-US" sz="3227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Add more sensors like temperature and humidity to make the system smarter.</a:t>
            </a:r>
          </a:p>
          <a:p>
            <a:pPr algn="l" marL="696729" indent="-348365" lvl="1">
              <a:lnSpc>
                <a:spcPts val="4033"/>
              </a:lnSpc>
              <a:buFont typeface="Arial"/>
              <a:buChar char="•"/>
            </a:pPr>
            <a:r>
              <a:rPr lang="en-US" sz="3227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simple AI to predict when the field will need watering based on moisture and weather.</a:t>
            </a:r>
          </a:p>
          <a:p>
            <a:pPr algn="l" marL="696729" indent="-348365" lvl="1">
              <a:lnSpc>
                <a:spcPts val="4033"/>
              </a:lnSpc>
              <a:buFont typeface="Arial"/>
              <a:buChar char="•"/>
            </a:pPr>
            <a:r>
              <a:rPr lang="en-US" sz="3227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Expand the system so one controller can manage multiple fields.</a:t>
            </a:r>
          </a:p>
          <a:p>
            <a:pPr algn="l">
              <a:lnSpc>
                <a:spcPts val="403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084997" y="9409970"/>
            <a:ext cx="524775" cy="524775"/>
          </a:xfrm>
          <a:custGeom>
            <a:avLst/>
            <a:gdLst/>
            <a:ahLst/>
            <a:cxnLst/>
            <a:rect r="r" b="b" t="t" l="l"/>
            <a:pathLst>
              <a:path h="524775" w="524775">
                <a:moveTo>
                  <a:pt x="0" y="0"/>
                </a:moveTo>
                <a:lnTo>
                  <a:pt x="524775" y="0"/>
                </a:lnTo>
                <a:lnTo>
                  <a:pt x="524775" y="524775"/>
                </a:lnTo>
                <a:lnTo>
                  <a:pt x="0" y="524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933213"/>
            <a:ext cx="11719833" cy="104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7"/>
              </a:lnSpc>
            </a:pPr>
            <a:r>
              <a:rPr lang="en-US" b="true" sz="9300" spc="-716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SCOPE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40663" y="8851626"/>
            <a:ext cx="406674" cy="406674"/>
          </a:xfrm>
          <a:custGeom>
            <a:avLst/>
            <a:gdLst/>
            <a:ahLst/>
            <a:cxnLst/>
            <a:rect r="r" b="b" t="t" l="l"/>
            <a:pathLst>
              <a:path h="406674" w="406674">
                <a:moveTo>
                  <a:pt x="0" y="0"/>
                </a:moveTo>
                <a:lnTo>
                  <a:pt x="406674" y="0"/>
                </a:lnTo>
                <a:lnTo>
                  <a:pt x="406674" y="406674"/>
                </a:lnTo>
                <a:lnTo>
                  <a:pt x="0" y="40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62231" y="3216142"/>
            <a:ext cx="14128516" cy="5068014"/>
            <a:chOff x="0" y="0"/>
            <a:chExt cx="3721091" cy="1334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21091" cy="1334786"/>
            </a:xfrm>
            <a:custGeom>
              <a:avLst/>
              <a:gdLst/>
              <a:ahLst/>
              <a:cxnLst/>
              <a:rect r="r" b="b" t="t" l="l"/>
              <a:pathLst>
                <a:path h="1334786" w="3721091">
                  <a:moveTo>
                    <a:pt x="13699" y="0"/>
                  </a:moveTo>
                  <a:lnTo>
                    <a:pt x="3707392" y="0"/>
                  </a:lnTo>
                  <a:cubicBezTo>
                    <a:pt x="3714957" y="0"/>
                    <a:pt x="3721091" y="6133"/>
                    <a:pt x="3721091" y="13699"/>
                  </a:cubicBezTo>
                  <a:lnTo>
                    <a:pt x="3721091" y="1321087"/>
                  </a:lnTo>
                  <a:cubicBezTo>
                    <a:pt x="3721091" y="1328652"/>
                    <a:pt x="3714957" y="1334786"/>
                    <a:pt x="3707392" y="1334786"/>
                  </a:cubicBezTo>
                  <a:lnTo>
                    <a:pt x="13699" y="1334786"/>
                  </a:lnTo>
                  <a:cubicBezTo>
                    <a:pt x="6133" y="1334786"/>
                    <a:pt x="0" y="1328652"/>
                    <a:pt x="0" y="1321087"/>
                  </a:cubicBezTo>
                  <a:lnTo>
                    <a:pt x="0" y="13699"/>
                  </a:lnTo>
                  <a:cubicBezTo>
                    <a:pt x="0" y="6133"/>
                    <a:pt x="6133" y="0"/>
                    <a:pt x="136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721091" cy="1325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1022886"/>
            <a:ext cx="11719833" cy="13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2"/>
              </a:lnSpc>
            </a:pPr>
            <a:r>
              <a:rPr lang="en-US" b="true" sz="11800" spc="-908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2231" y="3417005"/>
            <a:ext cx="13349391" cy="582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Farmers can operate the water pump remotely via SMS using GSM — no need to visit the field.</a:t>
            </a:r>
          </a:p>
          <a:p>
            <a:pPr algn="l" marL="669289" indent="-334645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Moisture sensor offers Manual and Auto modes for flexible control.</a:t>
            </a:r>
          </a:p>
          <a:p>
            <a:pPr algn="l" marL="669289" indent="-334645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Auto mode ensures the pump runs only when soil needs water, reducing wastage.</a:t>
            </a:r>
          </a:p>
          <a:p>
            <a:pPr algn="l" marL="669289" indent="-334645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Arduino, GSM, and relay, the system is reliable, affordable, and easy to use.</a:t>
            </a:r>
          </a:p>
          <a:p>
            <a:pPr algn="l" marL="669289" indent="-334645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332A1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Overall — a simple, smart and effective solution for better irrigation and healthier crops.</a:t>
            </a:r>
          </a:p>
          <a:p>
            <a:pPr algn="l">
              <a:lnSpc>
                <a:spcPts val="3874"/>
              </a:lnSpc>
            </a:pPr>
          </a:p>
          <a:p>
            <a:pPr algn="l">
              <a:lnSpc>
                <a:spcPts val="3874"/>
              </a:lnSpc>
            </a:pPr>
          </a:p>
          <a:p>
            <a:pPr algn="l">
              <a:lnSpc>
                <a:spcPts val="387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21285" y="1028700"/>
            <a:ext cx="246668" cy="246668"/>
          </a:xfrm>
          <a:custGeom>
            <a:avLst/>
            <a:gdLst/>
            <a:ahLst/>
            <a:cxnLst/>
            <a:rect r="r" b="b" t="t" l="l"/>
            <a:pathLst>
              <a:path h="246668" w="246668">
                <a:moveTo>
                  <a:pt x="0" y="0"/>
                </a:moveTo>
                <a:lnTo>
                  <a:pt x="246668" y="0"/>
                </a:lnTo>
                <a:lnTo>
                  <a:pt x="246668" y="246668"/>
                </a:lnTo>
                <a:lnTo>
                  <a:pt x="0" y="24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1028700"/>
            <a:ext cx="11458937" cy="8229600"/>
          </a:xfrm>
          <a:custGeom>
            <a:avLst/>
            <a:gdLst/>
            <a:ahLst/>
            <a:cxnLst/>
            <a:rect r="r" b="b" t="t" l="l"/>
            <a:pathLst>
              <a:path h="8229600" w="11458937">
                <a:moveTo>
                  <a:pt x="11458937" y="0"/>
                </a:moveTo>
                <a:lnTo>
                  <a:pt x="0" y="0"/>
                </a:lnTo>
                <a:lnTo>
                  <a:pt x="0" y="8229600"/>
                </a:lnTo>
                <a:lnTo>
                  <a:pt x="11458937" y="8229600"/>
                </a:lnTo>
                <a:lnTo>
                  <a:pt x="114589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406674" cy="406674"/>
          </a:xfrm>
          <a:custGeom>
            <a:avLst/>
            <a:gdLst/>
            <a:ahLst/>
            <a:cxnLst/>
            <a:rect r="r" b="b" t="t" l="l"/>
            <a:pathLst>
              <a:path h="406674" w="406674">
                <a:moveTo>
                  <a:pt x="0" y="0"/>
                </a:moveTo>
                <a:lnTo>
                  <a:pt x="406674" y="0"/>
                </a:lnTo>
                <a:lnTo>
                  <a:pt x="406674" y="406674"/>
                </a:lnTo>
                <a:lnTo>
                  <a:pt x="0" y="406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110908" y="5069873"/>
            <a:ext cx="285616" cy="73627"/>
            <a:chOff x="0" y="0"/>
            <a:chExt cx="75224" cy="19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224" cy="19391"/>
            </a:xfrm>
            <a:custGeom>
              <a:avLst/>
              <a:gdLst/>
              <a:ahLst/>
              <a:cxnLst/>
              <a:rect r="r" b="b" t="t" l="l"/>
              <a:pathLst>
                <a:path h="19391" w="75224">
                  <a:moveTo>
                    <a:pt x="9696" y="0"/>
                  </a:moveTo>
                  <a:lnTo>
                    <a:pt x="65528" y="0"/>
                  </a:lnTo>
                  <a:cubicBezTo>
                    <a:pt x="68100" y="0"/>
                    <a:pt x="70566" y="1022"/>
                    <a:pt x="72384" y="2840"/>
                  </a:cubicBezTo>
                  <a:cubicBezTo>
                    <a:pt x="74202" y="4658"/>
                    <a:pt x="75224" y="7124"/>
                    <a:pt x="75224" y="9696"/>
                  </a:cubicBezTo>
                  <a:lnTo>
                    <a:pt x="75224" y="9696"/>
                  </a:lnTo>
                  <a:cubicBezTo>
                    <a:pt x="75224" y="12267"/>
                    <a:pt x="74202" y="14733"/>
                    <a:pt x="72384" y="16552"/>
                  </a:cubicBezTo>
                  <a:cubicBezTo>
                    <a:pt x="70566" y="18370"/>
                    <a:pt x="68100" y="19391"/>
                    <a:pt x="65528" y="19391"/>
                  </a:cubicBezTo>
                  <a:lnTo>
                    <a:pt x="9696" y="19391"/>
                  </a:lnTo>
                  <a:cubicBezTo>
                    <a:pt x="7124" y="19391"/>
                    <a:pt x="4658" y="18370"/>
                    <a:pt x="2840" y="16552"/>
                  </a:cubicBezTo>
                  <a:cubicBezTo>
                    <a:pt x="1022" y="14733"/>
                    <a:pt x="0" y="12267"/>
                    <a:pt x="0" y="9696"/>
                  </a:cubicBezTo>
                  <a:lnTo>
                    <a:pt x="0" y="9696"/>
                  </a:lnTo>
                  <a:cubicBezTo>
                    <a:pt x="0" y="7124"/>
                    <a:pt x="1022" y="4658"/>
                    <a:pt x="2840" y="2840"/>
                  </a:cubicBezTo>
                  <a:cubicBezTo>
                    <a:pt x="4658" y="1022"/>
                    <a:pt x="7124" y="0"/>
                    <a:pt x="9696" y="0"/>
                  </a:cubicBezTo>
                  <a:close/>
                </a:path>
              </a:pathLst>
            </a:custGeom>
            <a:solidFill>
              <a:srgbClr val="06849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5224" cy="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72718" y="2440098"/>
            <a:ext cx="11719833" cy="13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2"/>
              </a:lnSpc>
            </a:pPr>
            <a:r>
              <a:rPr lang="en-US" b="true" sz="11800" spc="-908">
                <a:solidFill>
                  <a:srgbClr val="06849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DAG4g7BlxVg</dc:identifier>
  <dcterms:modified xsi:type="dcterms:W3CDTF">2011-08-01T06:04:30Z</dcterms:modified>
  <cp:revision>1</cp:revision>
  <dc:title>agriculture</dc:title>
</cp:coreProperties>
</file>